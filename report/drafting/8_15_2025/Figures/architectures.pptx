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8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D261D-F154-AC87-DA5A-EC1E968B4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6AA658-4C5A-2AF5-DB2A-AC84D056D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49FAA-92D1-7408-5CC4-F80C41B7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CB57B-7A8A-0BE7-BB11-689571410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2BCC4-03DE-27B1-835A-2542AB1B2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48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C2495-224B-9EAD-FEB4-691D521E0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DBF2C-BCF6-0FBC-4594-09DAB3965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39F21-E0CE-BDCC-72E0-95DEEB03D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28B2E-A431-1006-F021-CA62C7753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857A5-0E35-689B-7115-A2CB8A4D4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22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008D1-96A9-513E-E31F-283182DFE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235E6-F379-3925-018A-295C92FD8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67BCB-7BBF-24BB-FFD9-304A0DE09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AC597-5D16-A495-D8A1-447F7F924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50457-7369-D837-8304-A70532C7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70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FD0E2-52F3-DD48-24F3-C198283B1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712B8-786A-9098-D933-3F9A2CEF08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AAC849-D5E4-7E95-F7D3-AAE93A1F9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6541A-20AE-37EE-6ABC-ADFDEF785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07A43-E3F7-3C13-9217-6BAD102C0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3BBF0-B0A6-3B4C-43E9-3921D4C48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973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01EB1-AA5C-8C48-12A3-426C55C47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057E8-A484-2E74-AA66-5F08F336E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E57748-099F-A5AC-BFD9-C183B2F1D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43C385-330F-C08E-E3D8-0C4A2BB8BB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DC5F33-8C3A-DC60-828B-301848EA3B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C191B-C165-D55B-BF2B-4E61B04D7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5402B2-34BD-67B9-105D-F6CAE44DE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43DC9C-2891-4AEC-3DCB-184D7372A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935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A440D-99AF-D79A-CF14-EFBB3644A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F074C5-C0C3-E8BF-3D47-57327160B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4F23C-B0B1-593D-D8E0-D31EFF9E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0130B7-6401-F0BA-8570-FA475FC54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429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C38307-3D85-441C-3FEC-8FBF3C380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4BA9FA-CD42-7CDA-60A3-D37BD8EC5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764AB-F30A-B7B1-1169-7CD6B68BD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30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0AC71-0EA6-CDA4-742B-470FC99EB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AA496-630E-93A3-3282-F4A7BC8F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B5CD0-A962-8B46-904D-099CF0FE1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F7617-1869-64B3-7B26-F19FCEFD7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E4FACA-8B4A-127A-D863-6D517CD27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1BB664-4F67-4A1A-6657-CB96D577B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268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11A86-B5CB-E525-FDBB-175EBF681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C25516-E5FD-4549-400F-FB424911C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C78C1-722E-155B-5CCC-15FA97A507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8909F-BC36-9828-028F-857C09873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1428-AA3B-EB91-C9E1-806BEE37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F005C-0401-881B-5D07-2F929CAEF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897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63036-F8B7-BE6D-9061-F7AAB1DDF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922405-534B-A0D9-4E50-C80F2BBAD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A1398-CD58-4D53-6013-1BFE0AAA5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8AD3B-16EE-C1B9-1801-53928E08C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D002C-8ACE-C26D-E12F-0559E9E72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23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6BECAB-E7F6-8BEF-CA66-655F45F968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D3622-D6B9-757F-3475-FB8B472BB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1982B-6D96-8674-D2BB-0E83593F0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4B7CA-8DED-6BB3-C275-31BB8C03C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8564B-C823-72C1-F2A9-3B9BC05F6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48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97BEBC-EF03-F0AE-7AB2-9C57EC69B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A0A28-9846-9721-79BE-6A5837BEA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8EC0D-DDFE-8683-B818-ED58CB2188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EB7D7B-3DC6-4E17-8D75-EDA7E0961AEB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5577E-BA6F-73E3-2D23-FD3F46BFF5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EAADE-A5A5-4A6D-5908-88A74FB36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22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B7A57DA-E6AB-8CED-F69C-6DDDDC139188}"/>
              </a:ext>
            </a:extLst>
          </p:cNvPr>
          <p:cNvSpPr/>
          <p:nvPr/>
        </p:nvSpPr>
        <p:spPr>
          <a:xfrm>
            <a:off x="2295214" y="4193051"/>
            <a:ext cx="1491296" cy="540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n-layer LSTM</a:t>
            </a:r>
            <a:endParaRPr lang="en-US" sz="14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0E53804-3D54-AB32-023A-BFC0D8809017}"/>
              </a:ext>
            </a:extLst>
          </p:cNvPr>
          <p:cNvSpPr/>
          <p:nvPr/>
        </p:nvSpPr>
        <p:spPr>
          <a:xfrm>
            <a:off x="2295214" y="3614461"/>
            <a:ext cx="1491296" cy="358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Single-layer FF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88844D2-A1A5-CF8C-33CC-E8A046EDBBAC}"/>
              </a:ext>
            </a:extLst>
          </p:cNvPr>
          <p:cNvCxnSpPr>
            <a:cxnSpLocks/>
            <a:stCxn id="31" idx="0"/>
            <a:endCxn id="32" idx="2"/>
          </p:cNvCxnSpPr>
          <p:nvPr/>
        </p:nvCxnSpPr>
        <p:spPr>
          <a:xfrm flipV="1">
            <a:off x="3040862" y="3972753"/>
            <a:ext cx="0" cy="2202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07A6BA0-4202-0811-351B-150A4D48445B}"/>
              </a:ext>
            </a:extLst>
          </p:cNvPr>
          <p:cNvCxnSpPr>
            <a:cxnSpLocks/>
            <a:stCxn id="32" idx="0"/>
            <a:endCxn id="35" idx="2"/>
          </p:cNvCxnSpPr>
          <p:nvPr/>
        </p:nvCxnSpPr>
        <p:spPr>
          <a:xfrm flipV="1">
            <a:off x="3040862" y="3440396"/>
            <a:ext cx="0" cy="174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87B5CA8-AAC7-73B8-25E8-0E3E96171273}"/>
              </a:ext>
            </a:extLst>
          </p:cNvPr>
          <p:cNvSpPr txBox="1"/>
          <p:nvPr/>
        </p:nvSpPr>
        <p:spPr>
          <a:xfrm>
            <a:off x="2220445" y="3132619"/>
            <a:ext cx="1640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[predicted release]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9FB6A9-08CB-0736-1ED3-606B1FD8548B}"/>
              </a:ext>
            </a:extLst>
          </p:cNvPr>
          <p:cNvSpPr txBox="1"/>
          <p:nvPr/>
        </p:nvSpPr>
        <p:spPr>
          <a:xfrm>
            <a:off x="2447622" y="4907079"/>
            <a:ext cx="11864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[inflow, DOY]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A4B6B2D-30A4-5677-B1ED-59BBDC1C7980}"/>
              </a:ext>
            </a:extLst>
          </p:cNvPr>
          <p:cNvCxnSpPr>
            <a:cxnSpLocks/>
            <a:stCxn id="36" idx="0"/>
            <a:endCxn id="31" idx="2"/>
          </p:cNvCxnSpPr>
          <p:nvPr/>
        </p:nvCxnSpPr>
        <p:spPr>
          <a:xfrm flipV="1">
            <a:off x="3040862" y="4733971"/>
            <a:ext cx="0" cy="173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6E257E7-2477-882C-02C8-1588D86C6875}"/>
              </a:ext>
            </a:extLst>
          </p:cNvPr>
          <p:cNvSpPr txBox="1"/>
          <p:nvPr/>
        </p:nvSpPr>
        <p:spPr>
          <a:xfrm>
            <a:off x="2220380" y="2368475"/>
            <a:ext cx="134511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MODEL 1</a:t>
            </a:r>
          </a:p>
          <a:p>
            <a:pPr algn="ctr"/>
            <a:r>
              <a:rPr lang="en-US" sz="1400" dirty="0"/>
              <a:t>Standard LSTM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8672024-08BD-ADB4-94DE-5B346FF1DE6F}"/>
              </a:ext>
            </a:extLst>
          </p:cNvPr>
          <p:cNvSpPr/>
          <p:nvPr/>
        </p:nvSpPr>
        <p:spPr>
          <a:xfrm>
            <a:off x="4383697" y="4193051"/>
            <a:ext cx="1491296" cy="540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n-layer LSTM</a:t>
            </a:r>
            <a:endParaRPr lang="en-US" sz="14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0BE432A-2755-CFB9-5C5B-CF959B83C2D2}"/>
              </a:ext>
            </a:extLst>
          </p:cNvPr>
          <p:cNvSpPr/>
          <p:nvPr/>
        </p:nvSpPr>
        <p:spPr>
          <a:xfrm>
            <a:off x="4387059" y="3614461"/>
            <a:ext cx="1491296" cy="358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Single-layer FF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DB10382-A884-5B53-5FDB-6229429A3190}"/>
              </a:ext>
            </a:extLst>
          </p:cNvPr>
          <p:cNvCxnSpPr>
            <a:cxnSpLocks/>
            <a:stCxn id="39" idx="0"/>
            <a:endCxn id="40" idx="2"/>
          </p:cNvCxnSpPr>
          <p:nvPr/>
        </p:nvCxnSpPr>
        <p:spPr>
          <a:xfrm flipV="1">
            <a:off x="5129345" y="3972753"/>
            <a:ext cx="3362" cy="2202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01876C6-7632-6A12-BA31-43D71FA911D9}"/>
              </a:ext>
            </a:extLst>
          </p:cNvPr>
          <p:cNvCxnSpPr>
            <a:cxnSpLocks/>
            <a:stCxn id="40" idx="0"/>
            <a:endCxn id="43" idx="2"/>
          </p:cNvCxnSpPr>
          <p:nvPr/>
        </p:nvCxnSpPr>
        <p:spPr>
          <a:xfrm flipH="1" flipV="1">
            <a:off x="5129345" y="3410505"/>
            <a:ext cx="3362" cy="203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5643F9B-729B-4621-B264-B4EE6F716D3F}"/>
              </a:ext>
            </a:extLst>
          </p:cNvPr>
          <p:cNvSpPr txBox="1"/>
          <p:nvPr/>
        </p:nvSpPr>
        <p:spPr>
          <a:xfrm>
            <a:off x="4308928" y="3102728"/>
            <a:ext cx="1640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[predicted release]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34B9F9-20D2-457F-4263-F6F32DE08C0A}"/>
              </a:ext>
            </a:extLst>
          </p:cNvPr>
          <p:cNvSpPr txBox="1"/>
          <p:nvPr/>
        </p:nvSpPr>
        <p:spPr>
          <a:xfrm>
            <a:off x="4536105" y="4907080"/>
            <a:ext cx="11864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[inflow, DOY]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E4A7DE9-502D-09F1-4825-208BBD8E6830}"/>
              </a:ext>
            </a:extLst>
          </p:cNvPr>
          <p:cNvCxnSpPr>
            <a:cxnSpLocks/>
            <a:stCxn id="44" idx="0"/>
            <a:endCxn id="39" idx="2"/>
          </p:cNvCxnSpPr>
          <p:nvPr/>
        </p:nvCxnSpPr>
        <p:spPr>
          <a:xfrm flipV="1">
            <a:off x="5129345" y="4733971"/>
            <a:ext cx="0" cy="173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15B7FB5-727E-810D-98A5-3AC7C6E6F6A3}"/>
              </a:ext>
            </a:extLst>
          </p:cNvPr>
          <p:cNvSpPr txBox="1"/>
          <p:nvPr/>
        </p:nvSpPr>
        <p:spPr>
          <a:xfrm>
            <a:off x="4209642" y="2368475"/>
            <a:ext cx="177997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/>
              <a:t>MODEL 2</a:t>
            </a:r>
          </a:p>
          <a:p>
            <a:pPr algn="ctr"/>
            <a:r>
              <a:rPr lang="en-US" sz="1400"/>
              <a:t>Autoregressive LSTM</a:t>
            </a:r>
            <a:endParaRPr lang="en-US" sz="1400" dirty="0"/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E1D07A76-4F84-AF28-2B76-0469C07C0C18}"/>
              </a:ext>
            </a:extLst>
          </p:cNvPr>
          <p:cNvCxnSpPr>
            <a:cxnSpLocks/>
            <a:stCxn id="43" idx="3"/>
            <a:endCxn id="39" idx="3"/>
          </p:cNvCxnSpPr>
          <p:nvPr/>
        </p:nvCxnSpPr>
        <p:spPr>
          <a:xfrm flipH="1">
            <a:off x="5874993" y="3256617"/>
            <a:ext cx="74769" cy="1206894"/>
          </a:xfrm>
          <a:prstGeom prst="bentConnector3">
            <a:avLst>
              <a:gd name="adj1" fmla="val -30574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4D0B2F1F-0EB6-D182-5608-D63898DAB094}"/>
              </a:ext>
            </a:extLst>
          </p:cNvPr>
          <p:cNvSpPr/>
          <p:nvPr/>
        </p:nvSpPr>
        <p:spPr>
          <a:xfrm>
            <a:off x="6497828" y="4193051"/>
            <a:ext cx="1491296" cy="540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n-layer LSTM</a:t>
            </a:r>
            <a:endParaRPr lang="en-US" sz="14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0412F4F-405C-524F-4F1E-734055AA252F}"/>
              </a:ext>
            </a:extLst>
          </p:cNvPr>
          <p:cNvSpPr/>
          <p:nvPr/>
        </p:nvSpPr>
        <p:spPr>
          <a:xfrm>
            <a:off x="6497828" y="3586680"/>
            <a:ext cx="1491296" cy="358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Single-layer FF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9962154-1940-DAC2-C55B-4B9164185CA7}"/>
              </a:ext>
            </a:extLst>
          </p:cNvPr>
          <p:cNvCxnSpPr>
            <a:cxnSpLocks/>
            <a:stCxn id="48" idx="0"/>
            <a:endCxn id="49" idx="2"/>
          </p:cNvCxnSpPr>
          <p:nvPr/>
        </p:nvCxnSpPr>
        <p:spPr>
          <a:xfrm flipV="1">
            <a:off x="7243476" y="3944972"/>
            <a:ext cx="0" cy="248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F6B2527-2DBF-02DB-C5DB-4EADF96F6EA2}"/>
              </a:ext>
            </a:extLst>
          </p:cNvPr>
          <p:cNvCxnSpPr>
            <a:cxnSpLocks/>
            <a:stCxn id="49" idx="0"/>
            <a:endCxn id="52" idx="2"/>
          </p:cNvCxnSpPr>
          <p:nvPr/>
        </p:nvCxnSpPr>
        <p:spPr>
          <a:xfrm flipH="1" flipV="1">
            <a:off x="7240114" y="3413100"/>
            <a:ext cx="3362" cy="173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9C7CF45-C60A-BE04-9B1A-8E38433CE750}"/>
              </a:ext>
            </a:extLst>
          </p:cNvPr>
          <p:cNvSpPr txBox="1"/>
          <p:nvPr/>
        </p:nvSpPr>
        <p:spPr>
          <a:xfrm>
            <a:off x="6419697" y="3105323"/>
            <a:ext cx="1640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[predicted release]</a:t>
            </a:r>
            <a:endParaRPr lang="en-US" sz="1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D0BC126-E33F-9922-C223-205E53675AD8}"/>
              </a:ext>
            </a:extLst>
          </p:cNvPr>
          <p:cNvSpPr txBox="1"/>
          <p:nvPr/>
        </p:nvSpPr>
        <p:spPr>
          <a:xfrm>
            <a:off x="6646874" y="4907080"/>
            <a:ext cx="11864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[inflow, DOY]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408C0DC-29BB-E8DF-7E7C-3068EAE06217}"/>
              </a:ext>
            </a:extLst>
          </p:cNvPr>
          <p:cNvCxnSpPr>
            <a:cxnSpLocks/>
            <a:stCxn id="53" idx="0"/>
            <a:endCxn id="48" idx="2"/>
          </p:cNvCxnSpPr>
          <p:nvPr/>
        </p:nvCxnSpPr>
        <p:spPr>
          <a:xfrm flipV="1">
            <a:off x="7240114" y="4733971"/>
            <a:ext cx="3362" cy="173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68DC0FF-6531-B687-91ED-0CDD1D754E07}"/>
              </a:ext>
            </a:extLst>
          </p:cNvPr>
          <p:cNvSpPr txBox="1"/>
          <p:nvPr/>
        </p:nvSpPr>
        <p:spPr>
          <a:xfrm>
            <a:off x="6103238" y="2368475"/>
            <a:ext cx="221432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/>
              <a:t>MODEL 3</a:t>
            </a:r>
          </a:p>
          <a:p>
            <a:pPr algn="ctr"/>
            <a:r>
              <a:rPr lang="en-US" sz="1400"/>
              <a:t>LSTM with Implied Storage</a:t>
            </a:r>
            <a:endParaRPr lang="en-US" sz="1400" dirty="0"/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66093733-BEFC-A1F0-AE61-29F41C410271}"/>
              </a:ext>
            </a:extLst>
          </p:cNvPr>
          <p:cNvCxnSpPr>
            <a:cxnSpLocks/>
            <a:stCxn id="52" idx="3"/>
            <a:endCxn id="57" idx="0"/>
          </p:cNvCxnSpPr>
          <p:nvPr/>
        </p:nvCxnSpPr>
        <p:spPr>
          <a:xfrm>
            <a:off x="8060531" y="3259212"/>
            <a:ext cx="1090607" cy="8387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3053513-DEE4-7CC5-8BBF-9EBD9ECAA846}"/>
              </a:ext>
            </a:extLst>
          </p:cNvPr>
          <p:cNvSpPr txBox="1"/>
          <p:nvPr/>
        </p:nvSpPr>
        <p:spPr>
          <a:xfrm>
            <a:off x="8246450" y="4097924"/>
            <a:ext cx="18093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storage</a:t>
            </a:r>
            <a:r>
              <a:rPr lang="en-US" sz="1400" i="0" baseline="-25000" dirty="0" err="1">
                <a:latin typeface="+mj-lt"/>
              </a:rPr>
              <a:t>i</a:t>
            </a:r>
            <a:r>
              <a:rPr lang="en-US" sz="1400" dirty="0"/>
              <a:t> = </a:t>
            </a:r>
          </a:p>
          <a:p>
            <a:r>
              <a:rPr lang="en-US" sz="1400" dirty="0"/>
              <a:t>storage</a:t>
            </a:r>
            <a:r>
              <a:rPr lang="en-US" sz="1400" baseline="-25000" dirty="0"/>
              <a:t>i-1 </a:t>
            </a:r>
            <a:r>
              <a:rPr lang="en-US" sz="1400" dirty="0"/>
              <a:t>– release</a:t>
            </a:r>
            <a:r>
              <a:rPr lang="en-US" sz="1400" baseline="-25000" dirty="0"/>
              <a:t>i-1 </a:t>
            </a:r>
            <a:r>
              <a:rPr lang="en-US" sz="1400" dirty="0"/>
              <a:t>+ </a:t>
            </a:r>
            <a:r>
              <a:rPr lang="en-US" sz="1400" dirty="0" err="1"/>
              <a:t>inflow</a:t>
            </a:r>
            <a:r>
              <a:rPr lang="en-US" sz="1400" baseline="-25000" dirty="0" err="1"/>
              <a:t>i</a:t>
            </a:r>
            <a:endParaRPr lang="en-US" sz="1400" baseline="-25000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8FBA0BD-5FB1-9871-23D5-1903FFC04B81}"/>
              </a:ext>
            </a:extLst>
          </p:cNvPr>
          <p:cNvCxnSpPr>
            <a:cxnSpLocks/>
            <a:stCxn id="57" idx="1"/>
            <a:endCxn id="48" idx="3"/>
          </p:cNvCxnSpPr>
          <p:nvPr/>
        </p:nvCxnSpPr>
        <p:spPr>
          <a:xfrm flipH="1" flipV="1">
            <a:off x="7989124" y="4463511"/>
            <a:ext cx="257326" cy="3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886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B7A57DA-E6AB-8CED-F69C-6DDDDC139188}"/>
              </a:ext>
            </a:extLst>
          </p:cNvPr>
          <p:cNvSpPr/>
          <p:nvPr/>
        </p:nvSpPr>
        <p:spPr>
          <a:xfrm>
            <a:off x="915285" y="4108830"/>
            <a:ext cx="1491296" cy="540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n-layer LSTM</a:t>
            </a:r>
            <a:endParaRPr lang="en-US" sz="14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0E53804-3D54-AB32-023A-BFC0D8809017}"/>
              </a:ext>
            </a:extLst>
          </p:cNvPr>
          <p:cNvSpPr/>
          <p:nvPr/>
        </p:nvSpPr>
        <p:spPr>
          <a:xfrm>
            <a:off x="915285" y="3501826"/>
            <a:ext cx="1491296" cy="358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Single-layer FF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88844D2-A1A5-CF8C-33CC-E8A046EDBBAC}"/>
              </a:ext>
            </a:extLst>
          </p:cNvPr>
          <p:cNvCxnSpPr>
            <a:cxnSpLocks/>
            <a:stCxn id="31" idx="0"/>
            <a:endCxn id="32" idx="2"/>
          </p:cNvCxnSpPr>
          <p:nvPr/>
        </p:nvCxnSpPr>
        <p:spPr>
          <a:xfrm flipV="1">
            <a:off x="1660933" y="3860118"/>
            <a:ext cx="0" cy="248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07A6BA0-4202-0811-351B-150A4D48445B}"/>
              </a:ext>
            </a:extLst>
          </p:cNvPr>
          <p:cNvCxnSpPr>
            <a:cxnSpLocks/>
            <a:stCxn id="32" idx="0"/>
            <a:endCxn id="35" idx="2"/>
          </p:cNvCxnSpPr>
          <p:nvPr/>
        </p:nvCxnSpPr>
        <p:spPr>
          <a:xfrm flipV="1">
            <a:off x="1660933" y="3356175"/>
            <a:ext cx="0" cy="145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87B5CA8-AAC7-73B8-25E8-0E3E96171273}"/>
              </a:ext>
            </a:extLst>
          </p:cNvPr>
          <p:cNvSpPr txBox="1"/>
          <p:nvPr/>
        </p:nvSpPr>
        <p:spPr>
          <a:xfrm>
            <a:off x="840516" y="3048398"/>
            <a:ext cx="1640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[predicted release]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9FB6A9-08CB-0736-1ED3-606B1FD8548B}"/>
              </a:ext>
            </a:extLst>
          </p:cNvPr>
          <p:cNvSpPr txBox="1"/>
          <p:nvPr/>
        </p:nvSpPr>
        <p:spPr>
          <a:xfrm>
            <a:off x="1067693" y="4875704"/>
            <a:ext cx="11864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[inflow, DOY]</a:t>
            </a:r>
            <a:endParaRPr lang="en-US" sz="14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A4B6B2D-30A4-5677-B1ED-59BBDC1C7980}"/>
              </a:ext>
            </a:extLst>
          </p:cNvPr>
          <p:cNvCxnSpPr>
            <a:cxnSpLocks/>
            <a:stCxn id="36" idx="0"/>
            <a:endCxn id="31" idx="2"/>
          </p:cNvCxnSpPr>
          <p:nvPr/>
        </p:nvCxnSpPr>
        <p:spPr>
          <a:xfrm flipV="1">
            <a:off x="1660933" y="4649750"/>
            <a:ext cx="0" cy="225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6E257E7-2477-882C-02C8-1588D86C6875}"/>
              </a:ext>
            </a:extLst>
          </p:cNvPr>
          <p:cNvSpPr txBox="1"/>
          <p:nvPr/>
        </p:nvSpPr>
        <p:spPr>
          <a:xfrm>
            <a:off x="833118" y="2277976"/>
            <a:ext cx="134511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MODEL 1</a:t>
            </a:r>
          </a:p>
          <a:p>
            <a:pPr algn="ctr"/>
            <a:r>
              <a:rPr lang="en-US" sz="1400" dirty="0"/>
              <a:t>Standard LSTM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8672024-08BD-ADB4-94DE-5B346FF1DE6F}"/>
              </a:ext>
            </a:extLst>
          </p:cNvPr>
          <p:cNvSpPr/>
          <p:nvPr/>
        </p:nvSpPr>
        <p:spPr>
          <a:xfrm>
            <a:off x="2946449" y="4108830"/>
            <a:ext cx="1491296" cy="540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n-layer LSTM</a:t>
            </a:r>
            <a:endParaRPr lang="en-US" sz="14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0BE432A-2755-CFB9-5C5B-CF959B83C2D2}"/>
              </a:ext>
            </a:extLst>
          </p:cNvPr>
          <p:cNvSpPr/>
          <p:nvPr/>
        </p:nvSpPr>
        <p:spPr>
          <a:xfrm>
            <a:off x="2946449" y="3508025"/>
            <a:ext cx="1491296" cy="358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Single-layer FF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DB10382-A884-5B53-5FDB-6229429A3190}"/>
              </a:ext>
            </a:extLst>
          </p:cNvPr>
          <p:cNvCxnSpPr>
            <a:cxnSpLocks/>
            <a:stCxn id="39" idx="0"/>
            <a:endCxn id="40" idx="2"/>
          </p:cNvCxnSpPr>
          <p:nvPr/>
        </p:nvCxnSpPr>
        <p:spPr>
          <a:xfrm flipV="1">
            <a:off x="3692097" y="3866317"/>
            <a:ext cx="0" cy="242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01876C6-7632-6A12-BA31-43D71FA911D9}"/>
              </a:ext>
            </a:extLst>
          </p:cNvPr>
          <p:cNvCxnSpPr>
            <a:cxnSpLocks/>
            <a:stCxn id="40" idx="0"/>
            <a:endCxn id="43" idx="2"/>
          </p:cNvCxnSpPr>
          <p:nvPr/>
        </p:nvCxnSpPr>
        <p:spPr>
          <a:xfrm flipV="1">
            <a:off x="3692097" y="3356174"/>
            <a:ext cx="3230" cy="151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5643F9B-729B-4621-B264-B4EE6F716D3F}"/>
              </a:ext>
            </a:extLst>
          </p:cNvPr>
          <p:cNvSpPr txBox="1"/>
          <p:nvPr/>
        </p:nvSpPr>
        <p:spPr>
          <a:xfrm>
            <a:off x="2874910" y="3048397"/>
            <a:ext cx="1640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[predicted release]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34B9F9-20D2-457F-4263-F6F32DE08C0A}"/>
              </a:ext>
            </a:extLst>
          </p:cNvPr>
          <p:cNvSpPr txBox="1"/>
          <p:nvPr/>
        </p:nvSpPr>
        <p:spPr>
          <a:xfrm>
            <a:off x="3097413" y="4872681"/>
            <a:ext cx="11864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[inflow, DOY]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E4A7DE9-502D-09F1-4825-208BBD8E6830}"/>
              </a:ext>
            </a:extLst>
          </p:cNvPr>
          <p:cNvCxnSpPr>
            <a:cxnSpLocks/>
            <a:stCxn id="44" idx="0"/>
            <a:endCxn id="39" idx="2"/>
          </p:cNvCxnSpPr>
          <p:nvPr/>
        </p:nvCxnSpPr>
        <p:spPr>
          <a:xfrm flipV="1">
            <a:off x="3690653" y="4649750"/>
            <a:ext cx="1444" cy="222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15B7FB5-727E-810D-98A5-3AC7C6E6F6A3}"/>
              </a:ext>
            </a:extLst>
          </p:cNvPr>
          <p:cNvSpPr txBox="1"/>
          <p:nvPr/>
        </p:nvSpPr>
        <p:spPr>
          <a:xfrm>
            <a:off x="2829713" y="2284254"/>
            <a:ext cx="177997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/>
              <a:t>MODEL 2</a:t>
            </a:r>
          </a:p>
          <a:p>
            <a:pPr algn="ctr"/>
            <a:r>
              <a:rPr lang="en-US" sz="1400"/>
              <a:t>Autoregressive LSTM</a:t>
            </a:r>
            <a:endParaRPr lang="en-US" sz="1400" dirty="0"/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E1D07A76-4F84-AF28-2B76-0469C07C0C18}"/>
              </a:ext>
            </a:extLst>
          </p:cNvPr>
          <p:cNvCxnSpPr>
            <a:cxnSpLocks/>
            <a:stCxn id="43" idx="3"/>
            <a:endCxn id="39" idx="3"/>
          </p:cNvCxnSpPr>
          <p:nvPr/>
        </p:nvCxnSpPr>
        <p:spPr>
          <a:xfrm flipH="1">
            <a:off x="4437745" y="3202286"/>
            <a:ext cx="77999" cy="1177004"/>
          </a:xfrm>
          <a:prstGeom prst="bentConnector3">
            <a:avLst>
              <a:gd name="adj1" fmla="val -29308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4D0B2F1F-0EB6-D182-5608-D63898DAB094}"/>
              </a:ext>
            </a:extLst>
          </p:cNvPr>
          <p:cNvSpPr/>
          <p:nvPr/>
        </p:nvSpPr>
        <p:spPr>
          <a:xfrm>
            <a:off x="5300456" y="4108830"/>
            <a:ext cx="1491296" cy="540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n-layer LSTM</a:t>
            </a:r>
            <a:endParaRPr lang="en-US" sz="14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0412F4F-405C-524F-4F1E-734055AA252F}"/>
              </a:ext>
            </a:extLst>
          </p:cNvPr>
          <p:cNvSpPr/>
          <p:nvPr/>
        </p:nvSpPr>
        <p:spPr>
          <a:xfrm>
            <a:off x="5300456" y="3508025"/>
            <a:ext cx="1491296" cy="358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Single-layer FF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9962154-1940-DAC2-C55B-4B9164185CA7}"/>
              </a:ext>
            </a:extLst>
          </p:cNvPr>
          <p:cNvCxnSpPr>
            <a:cxnSpLocks/>
            <a:stCxn id="48" idx="0"/>
            <a:endCxn id="49" idx="2"/>
          </p:cNvCxnSpPr>
          <p:nvPr/>
        </p:nvCxnSpPr>
        <p:spPr>
          <a:xfrm flipV="1">
            <a:off x="6046104" y="3866317"/>
            <a:ext cx="0" cy="242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F6B2527-2DBF-02DB-C5DB-4EADF96F6EA2}"/>
              </a:ext>
            </a:extLst>
          </p:cNvPr>
          <p:cNvCxnSpPr>
            <a:cxnSpLocks/>
            <a:stCxn id="49" idx="0"/>
            <a:endCxn id="52" idx="2"/>
          </p:cNvCxnSpPr>
          <p:nvPr/>
        </p:nvCxnSpPr>
        <p:spPr>
          <a:xfrm flipH="1" flipV="1">
            <a:off x="6046103" y="3347291"/>
            <a:ext cx="1" cy="160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9C7CF45-C60A-BE04-9B1A-8E38433CE750}"/>
              </a:ext>
            </a:extLst>
          </p:cNvPr>
          <p:cNvSpPr txBox="1"/>
          <p:nvPr/>
        </p:nvSpPr>
        <p:spPr>
          <a:xfrm>
            <a:off x="5225686" y="3039514"/>
            <a:ext cx="1640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[predicted release]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D0BC126-E33F-9922-C223-205E53675AD8}"/>
              </a:ext>
            </a:extLst>
          </p:cNvPr>
          <p:cNvSpPr txBox="1"/>
          <p:nvPr/>
        </p:nvSpPr>
        <p:spPr>
          <a:xfrm>
            <a:off x="5452864" y="4872681"/>
            <a:ext cx="11864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[inflow, DOY]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408C0DC-29BB-E8DF-7E7C-3068EAE06217}"/>
              </a:ext>
            </a:extLst>
          </p:cNvPr>
          <p:cNvCxnSpPr>
            <a:cxnSpLocks/>
            <a:stCxn id="53" idx="0"/>
            <a:endCxn id="48" idx="2"/>
          </p:cNvCxnSpPr>
          <p:nvPr/>
        </p:nvCxnSpPr>
        <p:spPr>
          <a:xfrm flipV="1">
            <a:off x="6046104" y="4649750"/>
            <a:ext cx="0" cy="222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68DC0FF-6531-B687-91ED-0CDD1D754E07}"/>
              </a:ext>
            </a:extLst>
          </p:cNvPr>
          <p:cNvSpPr txBox="1"/>
          <p:nvPr/>
        </p:nvSpPr>
        <p:spPr>
          <a:xfrm>
            <a:off x="5056606" y="2277976"/>
            <a:ext cx="2671886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MODEL 3</a:t>
            </a:r>
          </a:p>
          <a:p>
            <a:pPr algn="ctr"/>
            <a:r>
              <a:rPr lang="en-US" sz="1400" dirty="0"/>
              <a:t>LSTM with Accumulated Storage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66093733-BEFC-A1F0-AE61-29F41C410271}"/>
              </a:ext>
            </a:extLst>
          </p:cNvPr>
          <p:cNvCxnSpPr>
            <a:cxnSpLocks/>
            <a:stCxn id="52" idx="3"/>
            <a:endCxn id="57" idx="0"/>
          </p:cNvCxnSpPr>
          <p:nvPr/>
        </p:nvCxnSpPr>
        <p:spPr>
          <a:xfrm>
            <a:off x="6866520" y="3193403"/>
            <a:ext cx="895761" cy="81155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3053513-DEE4-7CC5-8BBF-9EBD9ECAA846}"/>
              </a:ext>
            </a:extLst>
          </p:cNvPr>
          <p:cNvSpPr txBox="1"/>
          <p:nvPr/>
        </p:nvSpPr>
        <p:spPr>
          <a:xfrm>
            <a:off x="6986295" y="4004961"/>
            <a:ext cx="1551972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storage</a:t>
            </a:r>
            <a:r>
              <a:rPr lang="en-US" sz="1400" i="0" baseline="-25000" dirty="0" err="1">
                <a:latin typeface="+mj-lt"/>
              </a:rPr>
              <a:t>i</a:t>
            </a:r>
            <a:r>
              <a:rPr lang="en-US" sz="1400" dirty="0"/>
              <a:t> = </a:t>
            </a:r>
          </a:p>
          <a:p>
            <a:r>
              <a:rPr lang="en-US" sz="1400" dirty="0"/>
              <a:t>storage</a:t>
            </a:r>
            <a:r>
              <a:rPr lang="en-US" sz="1400" baseline="-25000" dirty="0"/>
              <a:t>i-1 </a:t>
            </a:r>
            <a:r>
              <a:rPr lang="en-US" sz="1400" dirty="0"/>
              <a:t>– release</a:t>
            </a:r>
            <a:r>
              <a:rPr lang="en-US" sz="1400" baseline="-25000" dirty="0"/>
              <a:t>i-1 </a:t>
            </a:r>
            <a:r>
              <a:rPr lang="en-US" sz="1400" dirty="0"/>
              <a:t>+ </a:t>
            </a:r>
            <a:r>
              <a:rPr lang="en-US" sz="1400" dirty="0" err="1"/>
              <a:t>inflow</a:t>
            </a:r>
            <a:r>
              <a:rPr lang="en-US" sz="1400" baseline="-25000" dirty="0" err="1"/>
              <a:t>i</a:t>
            </a:r>
            <a:endParaRPr lang="en-US" sz="1400" baseline="-25000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8FBA0BD-5FB1-9871-23D5-1903FFC04B81}"/>
              </a:ext>
            </a:extLst>
          </p:cNvPr>
          <p:cNvCxnSpPr>
            <a:cxnSpLocks/>
            <a:stCxn id="57" idx="1"/>
            <a:endCxn id="48" idx="3"/>
          </p:cNvCxnSpPr>
          <p:nvPr/>
        </p:nvCxnSpPr>
        <p:spPr>
          <a:xfrm flipH="1">
            <a:off x="6791752" y="4374293"/>
            <a:ext cx="194543" cy="4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57FF325-A1DE-9571-5FB4-9A0C39261F7E}"/>
              </a:ext>
            </a:extLst>
          </p:cNvPr>
          <p:cNvSpPr/>
          <p:nvPr/>
        </p:nvSpPr>
        <p:spPr>
          <a:xfrm>
            <a:off x="8710039" y="3508025"/>
            <a:ext cx="1491296" cy="358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Single-layer FF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D6FA2D-2564-C120-1B94-6BB191F7E081}"/>
              </a:ext>
            </a:extLst>
          </p:cNvPr>
          <p:cNvCxnSpPr>
            <a:cxnSpLocks/>
            <a:stCxn id="7" idx="0"/>
            <a:endCxn id="10" idx="2"/>
          </p:cNvCxnSpPr>
          <p:nvPr/>
        </p:nvCxnSpPr>
        <p:spPr>
          <a:xfrm flipV="1">
            <a:off x="9455687" y="3351856"/>
            <a:ext cx="0" cy="156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CCEB21E-B210-BD43-2DA8-59656357A5B8}"/>
              </a:ext>
            </a:extLst>
          </p:cNvPr>
          <p:cNvSpPr txBox="1"/>
          <p:nvPr/>
        </p:nvSpPr>
        <p:spPr>
          <a:xfrm>
            <a:off x="8635270" y="3044079"/>
            <a:ext cx="1640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[predicted release]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933867-697F-EA7D-0FCD-386918C79E85}"/>
              </a:ext>
            </a:extLst>
          </p:cNvPr>
          <p:cNvSpPr txBox="1"/>
          <p:nvPr/>
        </p:nvSpPr>
        <p:spPr>
          <a:xfrm>
            <a:off x="8477591" y="4872681"/>
            <a:ext cx="11864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[inflow, DOY]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C80EC9D-4462-D7B5-5BF3-94984CADCC12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9056881" y="3905572"/>
            <a:ext cx="13950" cy="967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C931B6E-8DDC-2AD1-A973-0560DA2729EB}"/>
              </a:ext>
            </a:extLst>
          </p:cNvPr>
          <p:cNvSpPr txBox="1"/>
          <p:nvPr/>
        </p:nvSpPr>
        <p:spPr>
          <a:xfrm>
            <a:off x="8379588" y="2285784"/>
            <a:ext cx="26191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MODEL 4</a:t>
            </a:r>
          </a:p>
          <a:p>
            <a:pPr algn="ctr"/>
            <a:r>
              <a:rPr lang="en-US" sz="1400" dirty="0"/>
              <a:t>RNN with Accumulated Storage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6C07031D-E5D9-D43E-41EF-8FC12CFA61D6}"/>
              </a:ext>
            </a:extLst>
          </p:cNvPr>
          <p:cNvCxnSpPr>
            <a:cxnSpLocks/>
            <a:stCxn id="10" idx="3"/>
            <a:endCxn id="15" idx="0"/>
          </p:cNvCxnSpPr>
          <p:nvPr/>
        </p:nvCxnSpPr>
        <p:spPr>
          <a:xfrm>
            <a:off x="10276104" y="3197968"/>
            <a:ext cx="189059" cy="8782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7F88AE8-5B45-6A29-B30E-C242C5E10A4D}"/>
              </a:ext>
            </a:extLst>
          </p:cNvPr>
          <p:cNvSpPr txBox="1"/>
          <p:nvPr/>
        </p:nvSpPr>
        <p:spPr>
          <a:xfrm>
            <a:off x="9689177" y="4076241"/>
            <a:ext cx="1551972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storage</a:t>
            </a:r>
            <a:r>
              <a:rPr lang="en-US" sz="1400" i="0" baseline="-25000" dirty="0" err="1">
                <a:latin typeface="+mj-lt"/>
              </a:rPr>
              <a:t>i</a:t>
            </a:r>
            <a:r>
              <a:rPr lang="en-US" sz="1400" dirty="0"/>
              <a:t> = </a:t>
            </a:r>
          </a:p>
          <a:p>
            <a:r>
              <a:rPr lang="en-US" sz="1400" dirty="0"/>
              <a:t>storage</a:t>
            </a:r>
            <a:r>
              <a:rPr lang="en-US" sz="1400" baseline="-25000" dirty="0"/>
              <a:t>i-1 </a:t>
            </a:r>
            <a:r>
              <a:rPr lang="en-US" sz="1400" dirty="0"/>
              <a:t>– release</a:t>
            </a:r>
            <a:r>
              <a:rPr lang="en-US" sz="1400" baseline="-25000" dirty="0"/>
              <a:t>i-1 </a:t>
            </a:r>
            <a:r>
              <a:rPr lang="en-US" sz="1400" dirty="0"/>
              <a:t>+ </a:t>
            </a:r>
            <a:r>
              <a:rPr lang="en-US" sz="1400" dirty="0" err="1"/>
              <a:t>inflow</a:t>
            </a:r>
            <a:r>
              <a:rPr lang="en-US" sz="1400" baseline="-25000" dirty="0" err="1"/>
              <a:t>i</a:t>
            </a:r>
            <a:endParaRPr lang="en-US" sz="1400" baseline="-250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ED7707E-0839-9A19-3B25-E111FC436732}"/>
              </a:ext>
            </a:extLst>
          </p:cNvPr>
          <p:cNvCxnSpPr>
            <a:cxnSpLocks/>
          </p:cNvCxnSpPr>
          <p:nvPr/>
        </p:nvCxnSpPr>
        <p:spPr>
          <a:xfrm flipV="1">
            <a:off x="9966720" y="3866317"/>
            <a:ext cx="0" cy="209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329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144</Words>
  <Application>Microsoft Office PowerPoint</Application>
  <PresentationFormat>Widescreen</PresentationFormat>
  <Paragraphs>47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 Chen</dc:creator>
  <cp:lastModifiedBy>Matthew Chen</cp:lastModifiedBy>
  <cp:revision>5</cp:revision>
  <dcterms:created xsi:type="dcterms:W3CDTF">2024-02-28T23:07:41Z</dcterms:created>
  <dcterms:modified xsi:type="dcterms:W3CDTF">2025-08-19T00:25:30Z</dcterms:modified>
</cp:coreProperties>
</file>